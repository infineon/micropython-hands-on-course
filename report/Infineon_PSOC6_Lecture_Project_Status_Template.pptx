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heme/theme2.xml" ContentType="application/vnd.openxmlformats-officedocument.theme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heme/theme3.xml" ContentType="application/vnd.openxmlformats-officedocument.them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10"/>
  </p:notesMasterIdLst>
  <p:handoutMasterIdLst>
    <p:handoutMasterId r:id="rId11"/>
  </p:handoutMasterIdLst>
  <p:sldIdLst>
    <p:sldId id="2147471886" r:id="rId5"/>
    <p:sldId id="2147483462" r:id="rId6"/>
    <p:sldId id="2147483465" r:id="rId7"/>
    <p:sldId id="2147483464" r:id="rId8"/>
    <p:sldId id="2147471884" r:id="rId9"/>
  </p:sldIdLst>
  <p:sldSz cx="12192000" cy="6858000"/>
  <p:notesSz cx="7099300" cy="10234613"/>
  <p:custDataLst>
    <p:tags r:id="rId1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2E414-1952-433B-97D5-56356CD4551E}" v="706" dt="2026-01-30T11:02:22.515"/>
  </p1510:revLst>
</p1510:revInfo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696" autoAdjust="0"/>
  </p:normalViewPr>
  <p:slideViewPr>
    <p:cSldViewPr snapToObjects="1" showGuides="1">
      <p:cViewPr>
        <p:scale>
          <a:sx n="85" d="100"/>
          <a:sy n="85" d="100"/>
        </p:scale>
        <p:origin x="960" y="4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12" Type="http://schemas.openxmlformats.org/officeDocument/2006/relationships/image" Target="../media/image5.png"/><Relationship Id="rId2" Type="http://schemas.openxmlformats.org/officeDocument/2006/relationships/tags" Target="../tags/tag189.xml"/><Relationship Id="rId1" Type="http://schemas.openxmlformats.org/officeDocument/2006/relationships/theme" Target="../theme/theme3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5" Type="http://schemas.openxmlformats.org/officeDocument/2006/relationships/tags" Target="../tags/tag192.xml"/><Relationship Id="rId10" Type="http://schemas.openxmlformats.org/officeDocument/2006/relationships/tags" Target="../tags/tag197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3" Type="http://schemas.openxmlformats.org/officeDocument/2006/relationships/tags" Target="../tags/tag180.xml"/><Relationship Id="rId7" Type="http://schemas.openxmlformats.org/officeDocument/2006/relationships/tags" Target="../tags/tag184.xml"/><Relationship Id="rId12" Type="http://schemas.openxmlformats.org/officeDocument/2006/relationships/image" Target="../media/image5.png"/><Relationship Id="rId2" Type="http://schemas.openxmlformats.org/officeDocument/2006/relationships/tags" Target="../tags/tag179.xml"/><Relationship Id="rId1" Type="http://schemas.openxmlformats.org/officeDocument/2006/relationships/theme" Target="../theme/theme2.xml"/><Relationship Id="rId6" Type="http://schemas.openxmlformats.org/officeDocument/2006/relationships/tags" Target="../tags/tag183.xml"/><Relationship Id="rId11" Type="http://schemas.openxmlformats.org/officeDocument/2006/relationships/tags" Target="../tags/tag188.xml"/><Relationship Id="rId5" Type="http://schemas.openxmlformats.org/officeDocument/2006/relationships/tags" Target="../tags/tag182.xml"/><Relationship Id="rId10" Type="http://schemas.openxmlformats.org/officeDocument/2006/relationships/tags" Target="../tags/tag187.xml"/><Relationship Id="rId4" Type="http://schemas.openxmlformats.org/officeDocument/2006/relationships/tags" Target="../tags/tag181.xml"/><Relationship Id="rId9" Type="http://schemas.openxmlformats.org/officeDocument/2006/relationships/tags" Target="../tags/tag18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2025.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2025-07-03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e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1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9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0" Type="http://schemas.openxmlformats.org/officeDocument/2006/relationships/tags" Target="../tags/tag66.xml"/><Relationship Id="rId4" Type="http://schemas.openxmlformats.org/officeDocument/2006/relationships/tags" Target="../tags/tag60.xml"/><Relationship Id="rId9" Type="http://schemas.openxmlformats.org/officeDocument/2006/relationships/tags" Target="../tags/tag6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5" Type="http://schemas.openxmlformats.org/officeDocument/2006/relationships/tags" Target="../tags/tag10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0" Type="http://schemas.openxmlformats.org/officeDocument/2006/relationships/tags" Target="../tags/tag157.xml"/><Relationship Id="rId4" Type="http://schemas.openxmlformats.org/officeDocument/2006/relationships/tags" Target="../tags/tag151.xml"/><Relationship Id="rId9" Type="http://schemas.openxmlformats.org/officeDocument/2006/relationships/tags" Target="../tags/tag156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7" Type="http://schemas.openxmlformats.org/officeDocument/2006/relationships/image" Target="../media/image1.png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8.xml"/><Relationship Id="rId4" Type="http://schemas.openxmlformats.org/officeDocument/2006/relationships/tags" Target="../tags/tag17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Author (department)</a:t>
            </a:r>
            <a:br>
              <a:rPr lang="en-US" noProof="0"/>
            </a:br>
            <a:r>
              <a:rPr lang="en-US" noProof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2025.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2025-07-03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800" b="1" kern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F336-0D6F-6FA2-1006-D7E7DB2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3DC7-53DF-FD31-5C55-0AFE47E4E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685C83-F257-3377-8CB6-83E61FC51237}"/>
              </a:ext>
            </a:extLst>
          </p:cNvPr>
          <p:cNvSpPr/>
          <p:nvPr/>
        </p:nvSpPr>
        <p:spPr bwMode="auto">
          <a:xfrm>
            <a:off x="334962" y="980728"/>
            <a:ext cx="11522076" cy="828438"/>
          </a:xfrm>
          <a:prstGeom prst="roundRect">
            <a:avLst>
              <a:gd name="adj" fmla="val 9662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sz="2000" b="1" dirty="0">
                <a:solidFill>
                  <a:schemeClr val="bg1"/>
                </a:solidFill>
                <a:latin typeface="+mn-lt"/>
              </a:rPr>
              <a:t>Team: Enlightening wizards</a:t>
            </a:r>
            <a:endParaRPr lang="en-US" sz="2000" b="1" i="1" dirty="0">
              <a:solidFill>
                <a:schemeClr val="bg1"/>
              </a:solidFill>
              <a:latin typeface="+mn-lt"/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sz="1200" i="1" dirty="0">
                <a:solidFill>
                  <a:schemeClr val="bg1"/>
                </a:solidFill>
                <a:latin typeface="+mn-lt"/>
              </a:rPr>
              <a:t>Team Members:</a:t>
            </a:r>
            <a:r>
              <a:rPr lang="en-US" sz="1600" i="1" dirty="0">
                <a:solidFill>
                  <a:schemeClr val="bg1"/>
                </a:solidFill>
                <a:latin typeface="+mn-lt"/>
              </a:rPr>
              <a:t> Knezevic Leontina, Gassner Manuel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B85944-9077-6029-109A-BDF1818F5406}"/>
              </a:ext>
            </a:extLst>
          </p:cNvPr>
          <p:cNvSpPr/>
          <p:nvPr/>
        </p:nvSpPr>
        <p:spPr bwMode="auto">
          <a:xfrm>
            <a:off x="343317" y="2209138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the Introduction Lecture 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Reviewed lecture contents and deepened the understanding of all the software tools</a:t>
            </a:r>
            <a:endParaRPr lang="de-DE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Successfully connected the microcontroller to </a:t>
            </a:r>
            <a:r>
              <a:rPr lang="en-US" dirty="0" err="1">
                <a:solidFill>
                  <a:schemeClr val="tx1"/>
                </a:solidFill>
              </a:rPr>
              <a:t>Deepcraft</a:t>
            </a:r>
            <a:r>
              <a:rPr lang="en-US" dirty="0">
                <a:solidFill>
                  <a:schemeClr val="tx1"/>
                </a:solidFill>
              </a:rPr>
              <a:t> Studio via the private </a:t>
            </a:r>
            <a:r>
              <a:rPr lang="en-US" dirty="0" err="1">
                <a:solidFill>
                  <a:schemeClr val="tx1"/>
                </a:solidFill>
              </a:rPr>
              <a:t>WiFi</a:t>
            </a:r>
            <a:r>
              <a:rPr lang="en-US" dirty="0">
                <a:solidFill>
                  <a:schemeClr val="tx1"/>
                </a:solidFill>
              </a:rPr>
              <a:t> and hotspot</a:t>
            </a:r>
            <a:endParaRPr lang="de-DE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Initialized the necessary </a:t>
            </a:r>
            <a:r>
              <a:rPr lang="en-US" dirty="0" err="1">
                <a:solidFill>
                  <a:schemeClr val="tx1"/>
                </a:solidFill>
              </a:rPr>
              <a:t>Deepcraft</a:t>
            </a:r>
            <a:r>
              <a:rPr lang="en-US" dirty="0">
                <a:solidFill>
                  <a:schemeClr val="tx1"/>
                </a:solidFill>
              </a:rPr>
              <a:t> projects and configured the preprocessor for training the models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Started the initial phase of data collection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Coded the basic structure of the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programm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E8B6BC-7043-0B40-D795-FBC70E8DE10B}"/>
              </a:ext>
            </a:extLst>
          </p:cNvPr>
          <p:cNvSpPr/>
          <p:nvPr/>
        </p:nvSpPr>
        <p:spPr bwMode="auto">
          <a:xfrm>
            <a:off x="4259796" y="2241136"/>
            <a:ext cx="3671832" cy="414227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Conduct more data acquisition sessions over the weekend, involving multiple test subjects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Train the first AI-models based on our data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Begin to integrate the model into a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code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94D580-9002-884A-0777-FDA16C0D1006}"/>
              </a:ext>
            </a:extLst>
          </p:cNvPr>
          <p:cNvSpPr/>
          <p:nvPr/>
        </p:nvSpPr>
        <p:spPr bwMode="auto">
          <a:xfrm>
            <a:off x="8184232" y="2241136"/>
            <a:ext cx="3671832" cy="4140614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Clarification between the “train”, “validation” and “test” datasets and their differences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long to wait in the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main </a:t>
            </a:r>
            <a:r>
              <a:rPr lang="en-US">
                <a:solidFill>
                  <a:schemeClr val="tx1"/>
                </a:solidFill>
              </a:rPr>
              <a:t>loop before </a:t>
            </a:r>
            <a:r>
              <a:rPr lang="en-US" dirty="0">
                <a:solidFill>
                  <a:schemeClr val="tx1"/>
                </a:solidFill>
              </a:rPr>
              <a:t>the next iteration.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229B8C7E-93CB-4945-83F5-F5BA8AD828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00BEB-4464-C39B-CD65-561455D4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A478E1-5E62-D9A2-274C-BE38EB614665}"/>
              </a:ext>
            </a:extLst>
          </p:cNvPr>
          <p:cNvSpPr txBox="1"/>
          <p:nvPr/>
        </p:nvSpPr>
        <p:spPr bwMode="auto">
          <a:xfrm>
            <a:off x="336449" y="1858213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1.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036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3CA5-6DA2-651C-BD83-BDEA5488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2F36-48B0-0265-7F67-4B88CA0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9AF7E8-F97B-94F3-3D60-545030548D5A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Finished data collection, including data redistribution to train, validation and test sets.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Configured and built the preprocessor.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Configured and trained a model.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Found and ordered the suitable light bulb for the project.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Prepared the class for the light bulb in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6F909A-F2F8-F878-AD4A-C9E94BCA7C03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fix the issues we faced in order to have our model ready for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integration.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make our first tests of the model on the PSoC6.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 successfully connect the board and the light bulb.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F61695-F649-2A7E-8E53-939676CF1BA7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We had a persistent error while trying to generate the C99 code.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Error: </a:t>
            </a:r>
            <a:r>
              <a:rPr lang="en-US" dirty="0">
                <a:solidFill>
                  <a:schemeClr val="tx1"/>
                </a:solidFill>
              </a:rPr>
              <a:t>Failed to generate code. Sequence contains no matching element.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After managing to generate the C99 code, the same issue arose while trying to convert it to </a:t>
            </a:r>
            <a:r>
              <a:rPr lang="en-US" dirty="0" err="1">
                <a:solidFill>
                  <a:schemeClr val="tx1"/>
                </a:solidFill>
              </a:rPr>
              <a:t>micropython</a:t>
            </a:r>
            <a:r>
              <a:rPr lang="en-US" dirty="0">
                <a:solidFill>
                  <a:schemeClr val="tx1"/>
                </a:solidFill>
              </a:rPr>
              <a:t> code.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387F073D-0D6E-EDCA-9311-FF20E66F53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31E644-B391-AA7A-A4BF-B052E5E72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85F658-1D39-7370-1310-42E77216608B}"/>
              </a:ext>
            </a:extLst>
          </p:cNvPr>
          <p:cNvSpPr txBox="1"/>
          <p:nvPr/>
        </p:nvSpPr>
        <p:spPr bwMode="auto">
          <a:xfrm>
            <a:off x="334963" y="973766"/>
            <a:ext cx="477571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dirty="0">
                <a:solidFill>
                  <a:srgbClr val="0A8276"/>
                </a:solidFill>
                <a:latin typeface="+mn-lt"/>
              </a:rPr>
              <a:t>2. Progress report</a:t>
            </a:r>
            <a:endParaRPr lang="en-US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705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3DBAF-853C-626D-C95E-3F6A8803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Error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1FAF9-5A1F-FAD7-A1E1-84E51546DD0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75666-6CA3-5B38-C3F2-449CFC795A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ABC9E6E-C5A8-BD47-0E21-F871931036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69054" y="1268413"/>
            <a:ext cx="10252304" cy="511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43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580DE-651B-773A-CEE6-5168AC52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DE06-B78E-061E-C628-40B6A83B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Infineon PSOC6 Lecture project status</a:t>
            </a:r>
            <a:br>
              <a:rPr lang="en-US" dirty="0"/>
            </a:b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185B5B-3EEF-5A52-81E6-FB683090E542}"/>
              </a:ext>
            </a:extLst>
          </p:cNvPr>
          <p:cNvSpPr/>
          <p:nvPr/>
        </p:nvSpPr>
        <p:spPr bwMode="auto">
          <a:xfrm>
            <a:off x="336449" y="1340690"/>
            <a:ext cx="3671832" cy="5024913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Achieved since last meeting: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577FB4-4321-1005-383F-7911A4F8B988}"/>
              </a:ext>
            </a:extLst>
          </p:cNvPr>
          <p:cNvSpPr/>
          <p:nvPr/>
        </p:nvSpPr>
        <p:spPr bwMode="auto">
          <a:xfrm>
            <a:off x="4259796" y="1340690"/>
            <a:ext cx="3671832" cy="504272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Activities planned until next meeting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Show what you have planned for the project presentation and your submission, you have more room on the next slide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5F3E40-A49E-57F0-F7EF-647017409004}"/>
              </a:ext>
            </a:extLst>
          </p:cNvPr>
          <p:cNvSpPr/>
          <p:nvPr/>
        </p:nvSpPr>
        <p:spPr bwMode="auto">
          <a:xfrm>
            <a:off x="8184232" y="1340690"/>
            <a:ext cx="3671832" cy="5041060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Issues / Support needed</a:t>
            </a:r>
          </a:p>
          <a:p>
            <a:pPr marL="285750" indent="-285750" defTabSz="576000" eaLnBrk="0" hangingPunct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text</a:t>
            </a:r>
          </a:p>
        </p:txBody>
      </p:sp>
      <p:pic>
        <p:nvPicPr>
          <p:cNvPr id="3" name="Grafik 15">
            <a:extLst>
              <a:ext uri="{FF2B5EF4-FFF2-40B4-BE49-F238E27FC236}">
                <a16:creationId xmlns:a16="http://schemas.microsoft.com/office/drawing/2014/main" id="{09BA7BD7-1F97-D634-2A37-36CBC92380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096" y="260495"/>
            <a:ext cx="1997472" cy="432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9A3A1A-D6DF-9BCA-DB3C-5985BC5EB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36" y="260495"/>
            <a:ext cx="1368152" cy="426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281BF-3B1F-087D-BB44-B86DF257FC17}"/>
              </a:ext>
            </a:extLst>
          </p:cNvPr>
          <p:cNvSpPr txBox="1"/>
          <p:nvPr/>
        </p:nvSpPr>
        <p:spPr bwMode="auto">
          <a:xfrm>
            <a:off x="431243" y="973766"/>
            <a:ext cx="4679431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800" b="1" kern="0" dirty="0">
                <a:solidFill>
                  <a:srgbClr val="0A8276"/>
                </a:solidFill>
              </a:rPr>
              <a:t>3. Progress report</a:t>
            </a:r>
          </a:p>
        </p:txBody>
      </p:sp>
    </p:spTree>
    <p:extLst>
      <p:ext uri="{BB962C8B-B14F-4D97-AF65-F5344CB8AC3E}">
        <p14:creationId xmlns:p14="http://schemas.microsoft.com/office/powerpoint/2010/main" val="369536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DE66A6-5783-448B-93CC-115A75838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Infineon PSOC6 Lecture presentation and final submission plans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BADBD7-5C4F-4271-90BC-DE806B29B74C}"/>
              </a:ext>
            </a:extLst>
          </p:cNvPr>
          <p:cNvSpPr/>
          <p:nvPr/>
        </p:nvSpPr>
        <p:spPr bwMode="auto">
          <a:xfrm>
            <a:off x="335360" y="1268413"/>
            <a:ext cx="11521678" cy="5078725"/>
          </a:xfrm>
          <a:prstGeom prst="roundRect">
            <a:avLst>
              <a:gd name="adj" fmla="val 2978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Short project presentation:</a:t>
            </a: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endParaRPr lang="en-US" dirty="0">
              <a:solidFill>
                <a:schemeClr val="tx1"/>
              </a:solidFill>
            </a:endParaRPr>
          </a:p>
          <a:p>
            <a:pPr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tx1"/>
                </a:solidFill>
              </a:rPr>
              <a:t>Any special equipment need for demo at the demo Day ?</a:t>
            </a:r>
          </a:p>
        </p:txBody>
      </p:sp>
    </p:spTree>
    <p:extLst>
      <p:ext uri="{BB962C8B-B14F-4D97-AF65-F5344CB8AC3E}">
        <p14:creationId xmlns:p14="http://schemas.microsoft.com/office/powerpoint/2010/main" val="1250595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False"/>
  <p:tag name="MIO_CD_LAYOUT_VALID_AREA" val="False"/>
  <p:tag name="MIO_CDID" val="e2fc2f9e-d5cf-4311-b3a1-0559b8fd1ab8"/>
  <p:tag name="MIO_CONTENTTAG" val="HUQ1gT/F8ESnR8/z2T2utA=="/>
  <p:tag name="MIO_DBID" val="FDE84254-54DB-49E3-9A0E-CDE72035D530"/>
  <p:tag name="MIO_EKGUID" val="f8120ca7-cceb-428f-a7d0-f20ce9397e1b"/>
  <p:tag name="MIO_EMBED_FONT" val="False"/>
  <p:tag name="MIO_FALLBACK_LAYOUT" val="4"/>
  <p:tag name="MIO_HDS" val="True"/>
  <p:tag name="MIO_LASTDOWNLOADED" val="20.03.2024 09:27:02.961"/>
  <p:tag name="MIO_MATCH_COLOR_SCHEME" val="True"/>
  <p:tag name="MIO_NUMBER_OF_VALID_LAYOUTS" val="18"/>
  <p:tag name="MIO_OBJECTNAME" val="Infineon LCD 16:9"/>
  <p:tag name="MIO_SHOW_DATE" val="False"/>
  <p:tag name="MIO_SHOW_FOOTER" val="False"/>
  <p:tag name="MIO_SHOW_PAGENUMBER" val="False"/>
  <p:tag name="MIO_SKIPVERSION" val="01.01.0001 00:00:00"/>
  <p:tag name="MIO_UPDATE" val="True"/>
  <p:tag name="MIO_VERSION" val="19.03.2024 12:54: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9073308C-F199-48EC-BC12-9A41A62831D5}" vid="{7D21EA35-C075-470B-9826-1EEC27A93A3F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908744A1DC0E459D19409169BD101C" ma:contentTypeVersion="10" ma:contentTypeDescription="Create a new document." ma:contentTypeScope="" ma:versionID="d0a38bccec903cc7fc917c43126213b1">
  <xsd:schema xmlns:xsd="http://www.w3.org/2001/XMLSchema" xmlns:xs="http://www.w3.org/2001/XMLSchema" xmlns:p="http://schemas.microsoft.com/office/2006/metadata/properties" xmlns:ns1="http://schemas.microsoft.com/sharepoint/v3" xmlns:ns2="3df75a81-b7cb-4783-ab8b-190cb7919186" targetNamespace="http://schemas.microsoft.com/office/2006/metadata/properties" ma:root="true" ma:fieldsID="18817bea9ddb899bcb71e34dfb063dcd" ns1:_="" ns2:_="">
    <xsd:import namespace="http://schemas.microsoft.com/sharepoint/v3"/>
    <xsd:import namespace="3df75a81-b7cb-4783-ab8b-190cb7919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f75a81-b7cb-4783-ab8b-190cb79191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E621A0-1E67-4A33-AC30-1B8333BDE1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df75a81-b7cb-4783-ab8b-190cb79191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purl.org/dc/elements/1.1/"/>
    <ds:schemaRef ds:uri="http://schemas.microsoft.com/office/infopath/2007/PartnerControls"/>
    <ds:schemaRef ds:uri="http://schemas.microsoft.com/sharepoint/v3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3df75a81-b7cb-4783-ab8b-190cb7919186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5a25aa-e944-415d-b7a7-40f6b9180b6b}" enabled="1" method="Standard" siteId="{eeb8d0e8-3544-41d3-aac6-934c309faf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74</TotalTime>
  <Words>387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Infineon 16:9</vt:lpstr>
      <vt:lpstr> Infineon PSOC6 Lecture project status </vt:lpstr>
      <vt:lpstr> Infineon PSOC6 Lecture project status </vt:lpstr>
      <vt:lpstr>Make Error</vt:lpstr>
      <vt:lpstr> Infineon PSOC6 Lecture project status </vt:lpstr>
      <vt:lpstr>Infineon PSOC6 Lecture presentation and final submission plans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IndustryMeetsMakers2024 Infineon team status</dc:title>
  <dc:creator>Muehlberger Andreas (IFAT IFM)</dc:creator>
  <cp:lastModifiedBy>Knezevic, Leontina</cp:lastModifiedBy>
  <cp:revision>26</cp:revision>
  <cp:lastPrinted>2026-02-13T14:27:28Z</cp:lastPrinted>
  <dcterms:created xsi:type="dcterms:W3CDTF">2024-04-15T16:23:15Z</dcterms:created>
  <dcterms:modified xsi:type="dcterms:W3CDTF">2026-02-17T11:16:11Z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0x010100B7908744A1DC0E459D19409169BD101C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2025-07-03T06:27:54Z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2025-07-03 06:27:55Z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f2b23d3b-c785-4c2f-a598-3095f5fe5aeb</vt:lpwstr>
  </property>
  <property fmtid="{D5CDD505-2E9C-101B-9397-08002B2CF9AE}" pid="28" name="MSIP_Label_a15a25aa-e944-415d-b7a7-40f6b9180b6b_ContentBits">
    <vt:lpwstr>0</vt:lpwstr>
  </property>
</Properties>
</file>